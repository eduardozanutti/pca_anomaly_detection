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9CC8F9-BA75-48D7-A1F4-6D30DC0A61F2}">
  <a:tblStyle styleId="{3E9CC8F9-BA75-48D7-A1F4-6D30DC0A61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1e4b696df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f1e4b696df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1e4b696df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1e4b696df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f1e4b696df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1e4b696df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1e4b696df_0_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3f1e4b696df_0_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1e4b696df_0_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09ab6f90d_2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f09ab6f90d_2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09ab6f90d_2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93776" y="274320"/>
            <a:ext cx="10626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MAI 5002   ·   FUNDAMENTOS DA MATEMÁTICA APLICADA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04671" y="729574"/>
            <a:ext cx="10615601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Detecção de Anomalias com PCA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22960" y="1718877"/>
            <a:ext cx="10597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Decomposição espectral da covariância aplicada ao Processo Tennessee Eastman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812065" y="4262754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Reynaldo Pereira Martins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13490412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21793" y="4865058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Victor Zoratti Ferreira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08006115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2961" y="3018836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Soares Zanutti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10413611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1" y="3632462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Fábio Luiz Souza Alves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15084023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0BC"/>
                </a:solidFill>
                <a:latin typeface="Calibri"/>
                <a:ea typeface="Calibri"/>
                <a:cs typeface="Calibri"/>
                <a:sym typeface="Calibri"/>
              </a:rPr>
              <a:t>Dataset: Rieth, Amsel, Tran &amp; Cook (2017), Harvard Dataverse — doi:10.7910/DVN/6C3JR1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055" y="3390385"/>
            <a:ext cx="3209252" cy="1445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48650" y="566925"/>
            <a:ext cx="1038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Monitorar dezenas de sensores em tempo real é inviável a olho nu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66928" y="1600200"/>
            <a:ext cx="65379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Uma planta química moderna gera séries temporais de dezenas a centenas de sensores, simultaneamente e sem pausa.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Inspecionar cada variável manualmente não escala — é preciso um detector automático de comportamento anormal (controles comportamentais)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Tennessee Eastman Process (TEP), de Downs &amp; Vogel (1993), é o simulador de referência da área numa planta quimica industrial, observando os seguintes processos e equipamentos: reator (reaç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ão), compressor (pressão), condensador (resfriar e condensar),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separador (gas e liquido) e reciclo de uma planta real.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Pode ser utilizado em controlar a planta, detecç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de falhas e controle preditivo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Nesse trabalho vamos focar na detecção de falhas (algoritmo estatistico PCA) para diagnosticar anomalias antes de ocorrer paradas.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Desafio sobre o tema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: as variáveis são fortemente correlacionadas e a falha nem sempre aparece em variáveis isoladas. 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objetivo operacional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é converter de forma irreversível 4 reagentes em 2 produtos. 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360920" y="1627632"/>
            <a:ext cx="4343400" cy="1298448"/>
          </a:xfrm>
          <a:prstGeom prst="roundRect">
            <a:avLst>
              <a:gd fmla="val 4930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571232" y="1920240"/>
            <a:ext cx="713232" cy="7132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360920" y="1901952"/>
            <a:ext cx="113385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52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485632" y="1773936"/>
            <a:ext cx="30632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variáveis de processo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360920" y="3090672"/>
            <a:ext cx="4343400" cy="1298448"/>
          </a:xfrm>
          <a:prstGeom prst="roundRect">
            <a:avLst>
              <a:gd fmla="val 4930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571232" y="3383280"/>
            <a:ext cx="713232" cy="7132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60920" y="3364992"/>
            <a:ext cx="113385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485632" y="3236976"/>
            <a:ext cx="30632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modos de falha catalogados (IDV 1–20)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360920" y="4553712"/>
            <a:ext cx="4343400" cy="1298448"/>
          </a:xfrm>
          <a:prstGeom prst="roundRect">
            <a:avLst>
              <a:gd fmla="val 4930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571232" y="4846320"/>
            <a:ext cx="713232" cy="7132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360920" y="4828032"/>
            <a:ext cx="113385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5,25 mi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485632" y="4700016"/>
            <a:ext cx="30632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observações de treino (Rieth et al., 2017)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Anatomia dos dados: 52 variáveis (colunas) em cinco unidades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58368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58368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Alimentações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 · D · E · 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5"/>
          <p:cNvCxnSpPr/>
          <p:nvPr/>
        </p:nvCxnSpPr>
        <p:spPr>
          <a:xfrm>
            <a:off x="2542032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" name="Google Shape;55;p5"/>
          <p:cNvSpPr/>
          <p:nvPr/>
        </p:nvSpPr>
        <p:spPr>
          <a:xfrm>
            <a:off x="2889504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13294B"/>
          </a:solidFill>
          <a:ln cap="flat" cmpd="sng" w="12700">
            <a:solidFill>
              <a:srgbClr val="13294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889504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Reator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4773168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5"/>
          <p:cNvSpPr/>
          <p:nvPr/>
        </p:nvSpPr>
        <p:spPr>
          <a:xfrm>
            <a:off x="5120640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120640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Separador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7004304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" name="Google Shape;61;p5"/>
          <p:cNvSpPr/>
          <p:nvPr/>
        </p:nvSpPr>
        <p:spPr>
          <a:xfrm>
            <a:off x="7351776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351776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Stripper (condensaç</a:t>
            </a: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ão e esgotamento)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9235440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5"/>
          <p:cNvSpPr/>
          <p:nvPr/>
        </p:nvSpPr>
        <p:spPr>
          <a:xfrm>
            <a:off x="9582912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582912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58368" y="25420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Reciclo (compressor) + purga fecham o circuito — esquema simplificado a partir dos nomes das variáveis (config.yaml).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58368" y="3063240"/>
            <a:ext cx="3502152" cy="2788920"/>
          </a:xfrm>
          <a:prstGeom prst="roundRect">
            <a:avLst>
              <a:gd fmla="val 2295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14400" y="3300984"/>
            <a:ext cx="3044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XMEAS 1–22 (Indicadores ou KPI’s)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14400" y="3611880"/>
            <a:ext cx="30449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Medições contínuas em tempo real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14400" y="4361688"/>
            <a:ext cx="29992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Vazões, pressões, níveis e temperaturas do reator, separador, alimentaç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ão, liquidos, vapores, 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stripper e compressor.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medições diretas e isoladas do restante da cadeia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434840" y="3063240"/>
            <a:ext cx="3502152" cy="2788920"/>
          </a:xfrm>
          <a:prstGeom prst="roundRect">
            <a:avLst>
              <a:gd fmla="val 2295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690872" y="3300984"/>
            <a:ext cx="3044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XMEAS 23–41 </a:t>
            </a: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(Indicadores ou KPI’s)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690872" y="3611880"/>
            <a:ext cx="30449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Analisadores de composição quimica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90875" y="4257026"/>
            <a:ext cx="29991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Divididos em 3 blocos de amostragem: 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Frações molares na alimentação do reator, no gás de purga e no produto.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Simulam a operaç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dos analisadores do processo em tempo real, ficar atento a atrasos e dados ausentes.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211312" y="3063240"/>
            <a:ext cx="3502152" cy="2788920"/>
          </a:xfrm>
          <a:prstGeom prst="roundRect">
            <a:avLst>
              <a:gd fmla="val 2295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467344" y="3300984"/>
            <a:ext cx="3044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XMV 1–11 </a:t>
            </a: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(Indicadores ou KPI’s)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467344" y="3611880"/>
            <a:ext cx="30449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Variáveis manipuladas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467350" y="4096500"/>
            <a:ext cx="2999100" cy="15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Válvulas e fluxos de controle f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ísicos na operação, ao contrário das 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variáveis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de medida (XMEAS), eles são atuadores e devem ser usadas na correção de desvios, estabilização da planta e taxa de produção,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. O XMV(12), agitador, não é simulado neste dataset.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A IDEIA CENTRAL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 ideia central: comprimir o “normal” e medir o que sobra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63025" y="1305350"/>
            <a:ext cx="4578300" cy="44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As 52 variáveis são fortemente correlacionadas: o processo normal vive num subespaço de dimensão bem menor.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Eles s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analisados em conjuntos, pois caso ocorra uma falha na planta, o controlador automático vai abrir ou fechar de forma arbitrária as válvulas envolvida, tentando compensar o erro, deixando um “rastro claro” nos dados históricos.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PCA aprende esse “rastro claro” (subespaço) a partir dos dados de operação normal.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SPE (erro quadr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ático de predição, observa variações fora do modelo)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— resume as 52 variáveis e dispara o alarme.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alarme dispara devido a quebra nas correlaç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ões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físicas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químicas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normais e o PCA perde a capacidade de prever o comportamento das variáveis. O SPE ultrapassa o limite de controle, ou seja, quebra correlação que faz o dado “escapar” do plano do PCA. 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89725" y="5688642"/>
            <a:ext cx="411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Variável a variável, a falha IDV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(3) -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 identificar de dist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úrbio,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 é indistinguível do normal →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fervent-pensive-newton/mnt/outputs/figures/fig5_series_temporais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295029"/>
            <a:ext cx="6903720" cy="4277397"/>
          </a:xfrm>
          <a:prstGeom prst="rect">
            <a:avLst/>
          </a:prstGeom>
          <a:noFill/>
          <a:ln>
            <a:noFill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</p:pic>
      <p:sp>
        <p:nvSpPr>
          <p:cNvPr id="91" name="Google Shape;91;p6"/>
          <p:cNvSpPr/>
          <p:nvPr/>
        </p:nvSpPr>
        <p:spPr>
          <a:xfrm>
            <a:off x="4892040" y="5609003"/>
            <a:ext cx="69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50"/>
              <a:buFont typeface="Calibri"/>
              <a:buNone/>
            </a:pPr>
            <a:r>
              <a:rPr i="1"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Séries de 6 variáveis em 3 cenários (linha vermelha = falha na amostra 20). Sob IDV(1) várias séries mudam; sob IDV(3) permanecem quase idênticas ao normal.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1025675"/>
            <a:ext cx="10368564" cy="583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50" y="1232174"/>
            <a:ext cx="3407025" cy="23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0663" y="1232175"/>
            <a:ext cx="3490672" cy="23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4425" y="1261824"/>
            <a:ext cx="3490675" cy="227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1775" y="4122799"/>
            <a:ext cx="3159784" cy="23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9225" y="4110776"/>
            <a:ext cx="3526731" cy="235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8"/>
          <p:cNvCxnSpPr>
            <a:stCxn id="111" idx="3"/>
            <a:endCxn id="112" idx="1"/>
          </p:cNvCxnSpPr>
          <p:nvPr/>
        </p:nvCxnSpPr>
        <p:spPr>
          <a:xfrm>
            <a:off x="3572275" y="2398611"/>
            <a:ext cx="7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8"/>
          <p:cNvCxnSpPr>
            <a:stCxn id="112" idx="3"/>
            <a:endCxn id="113" idx="1"/>
          </p:cNvCxnSpPr>
          <p:nvPr/>
        </p:nvCxnSpPr>
        <p:spPr>
          <a:xfrm>
            <a:off x="7841335" y="2398612"/>
            <a:ext cx="62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8"/>
          <p:cNvCxnSpPr>
            <a:endCxn id="115" idx="1"/>
          </p:cNvCxnSpPr>
          <p:nvPr/>
        </p:nvCxnSpPr>
        <p:spPr>
          <a:xfrm>
            <a:off x="5311525" y="5289238"/>
            <a:ext cx="76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8"/>
          <p:cNvCxnSpPr/>
          <p:nvPr/>
        </p:nvCxnSpPr>
        <p:spPr>
          <a:xfrm>
            <a:off x="1384075" y="5289226"/>
            <a:ext cx="76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275" y="2680125"/>
            <a:ext cx="10076399" cy="323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913" y="1355800"/>
            <a:ext cx="10368651" cy="104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481327"/>
            <a:ext cx="10588765" cy="46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Treino, validação, teste e o limiar do SPE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566928" y="1600200"/>
            <a:ext cx="3502152" cy="1554480"/>
          </a:xfrm>
          <a:prstGeom prst="roundRect">
            <a:avLst>
              <a:gd fmla="val 4118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804672" y="17830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Treino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804672" y="2203704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1 simulação normal — 500 amostras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804672" y="26974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Estima V e Λ (PCA).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343400" y="1600200"/>
            <a:ext cx="3502152" cy="1554480"/>
          </a:xfrm>
          <a:prstGeom prst="roundRect">
            <a:avLst>
              <a:gd fmla="val 4118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4581144" y="17830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Validação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581144" y="2203704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3 simulações normais — 1.500 amostras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581144" y="26974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Calibra o limiar δ².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8119872" y="1600200"/>
            <a:ext cx="3502152" cy="1554480"/>
          </a:xfrm>
          <a:prstGeom prst="roundRect">
            <a:avLst>
              <a:gd fmla="val 4118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8357616" y="17830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Teste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8357616" y="2203704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Simulações com falha IDV(1) e IDV(3)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357616" y="26974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Avalia a detecção.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1463040" y="6190488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Distribuição do SPE em validação; o limiar (99,99%) fica na cauda direita, em 25,45.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480475" y="4689000"/>
            <a:ext cx="10675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</a:t>
            </a:r>
            <a:r>
              <a:rPr b="1" lang="en-US"/>
              <a:t>or que calibrar na validação?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o threshold fosse extraído dos próprios dados de treino, o modelo aprenderia o nível de ruído da amostra específica usada no treino, resultando em um limiar artificialmente otimista. Dados de validação independentes garantem uma estimativa conservadora e representativa da operação normal real.</a:t>
            </a:r>
            <a:endParaRPr/>
          </a:p>
        </p:txBody>
      </p:sp>
      <p:pic>
        <p:nvPicPr>
          <p:cNvPr id="164" name="Google Shape;16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3398525"/>
            <a:ext cx="6321361" cy="1194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548640" y="566928"/>
            <a:ext cx="9966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Componetes selecionadas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463040" y="6190488"/>
            <a:ext cx="923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Distribuição do SPE em validação; o limiar (99,99%) fica na cauda direita, em 25,45.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352100"/>
            <a:ext cx="10546151" cy="34705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2"/>
          <p:cNvSpPr txBox="1"/>
          <p:nvPr/>
        </p:nvSpPr>
        <p:spPr>
          <a:xfrm>
            <a:off x="484125" y="4822650"/>
            <a:ext cx="1067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Definiu um valor fixo e de </a:t>
            </a:r>
            <a:r>
              <a:rPr lang="en-US"/>
              <a:t>variância</a:t>
            </a:r>
            <a:r>
              <a:rPr lang="en-US"/>
              <a:t> explicada e </a:t>
            </a:r>
            <a:r>
              <a:rPr lang="en-US"/>
              <a:t>inteirou</a:t>
            </a:r>
            <a:r>
              <a:rPr lang="en-US"/>
              <a:t>-se até chegar na variáncia explicada de 90%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30 de 52 para α = 90 % de variância explicada.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IDV(1) é detectada; IDV(3) escapa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fervent-pensive-newton/mnt/outputs/figures/fig3_SPE_IDV1_vs_IDV3.png" id="186" name="Google Shape;1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779" y="1554480"/>
            <a:ext cx="10426537" cy="3246120"/>
          </a:xfrm>
          <a:prstGeom prst="rect">
            <a:avLst/>
          </a:prstGeom>
          <a:noFill/>
          <a:ln>
            <a:noFill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</p:pic>
      <p:sp>
        <p:nvSpPr>
          <p:cNvPr id="187" name="Google Shape;187;p13"/>
          <p:cNvSpPr/>
          <p:nvPr/>
        </p:nvSpPr>
        <p:spPr>
          <a:xfrm>
            <a:off x="566928" y="5001768"/>
            <a:ext cx="5468112" cy="1188720"/>
          </a:xfrm>
          <a:prstGeom prst="roundRect">
            <a:avLst>
              <a:gd fmla="val 5385" name="adj"/>
            </a:avLst>
          </a:prstGeom>
          <a:solidFill>
            <a:srgbClr val="FBF3E9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786384" y="5148072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60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  <a:t>IDV(1) — degrau na razão A/C (corrente 4)</a:t>
            </a:r>
            <a:br>
              <a:rPr b="1" lang="en-US" sz="140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SPE dispara logo após a amostra 20 e permanece acima do limiar (escala log).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6163056" y="5001768"/>
            <a:ext cx="5468112" cy="1188720"/>
          </a:xfrm>
          <a:prstGeom prst="roundRect">
            <a:avLst>
              <a:gd fmla="val 5385" name="adj"/>
            </a:avLst>
          </a:prstGeom>
          <a:solidFill>
            <a:srgbClr val="EDF5EF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6382512" y="5148072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IDV(3) — degrau na temperatura de alimentação D (corrente 2)</a:t>
            </a:r>
            <a:br>
              <a:rPr b="1" lang="en-US" sz="140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SPE quase nunca ultrapassa o limiar: a falha é praticamente invisível a esse índice.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Resultados: taxa de detecção (FDR) e falso alarme (FAR)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0" name="Google Shape;200;p14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{3E9CC8F9-BA75-48D7-A1F4-6D30DC0A61F2}</a:tableStyleId>
              </a:tblPr>
              <a:tblGrid>
                <a:gridCol w="1554475"/>
                <a:gridCol w="6217925"/>
                <a:gridCol w="1645925"/>
                <a:gridCol w="16459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Falha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Descrição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FDR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60D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76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IDV(1)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Degrau na razão de alimentação A/C (corrente 4)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95%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1%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IDV(3)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Degrau na temperatura de alimentação D (corrente 2)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60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D976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5%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1%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14"/>
          <p:cNvSpPr/>
          <p:nvPr/>
        </p:nvSpPr>
        <p:spPr>
          <a:xfrm>
            <a:off x="566928" y="3703320"/>
            <a:ext cx="11064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FDR = fração de amostras pós-falha corretamente sinalizadas; FAR = fração de amostras pré-falha erroneamente sinalizadas.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IDV(1): detecção rápida, poucas amostras após a introdução da falha na amostra 20.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IDV(3): baixa FDR — a limitação estrutural conhecida do SPE (a explicação geométrica vem a seguir).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Valores conforme o manuscrito do repositório (docs/orientacao_wmecai.md); a saída numérica exata da célula de FDR não está salva no notebook.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Sensibilidade: curva ROC por fração de variância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fervent-pensive-newton/mnt/outputs/figures/fig4_curva_ROC.png"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23060"/>
            <a:ext cx="4480560" cy="4480560"/>
          </a:xfrm>
          <a:prstGeom prst="rect">
            <a:avLst/>
          </a:prstGeom>
          <a:noFill/>
          <a:ln>
            <a:noFill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</p:pic>
      <p:sp>
        <p:nvSpPr>
          <p:cNvPr id="213" name="Google Shape;213;p15"/>
          <p:cNvSpPr/>
          <p:nvPr/>
        </p:nvSpPr>
        <p:spPr>
          <a:xfrm>
            <a:off x="5577840" y="1920240"/>
            <a:ext cx="60807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Varrendo α de 0,1 a 0,9 sobre todas as 20 falhas, a AUC do SPE fica entre ~0,90 e 0,94.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AUC é máxima em α = 0,1 (0,936) e vale 0,901 em α = 0,9: modelos mais compactos são levemente mais sensíveis ao conjunto heterogêneo de falhas.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Nenhum α resolve falhas como IDV(3): elas se manifestam dentro do subespaço e exigem outro índice.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5577840" y="539496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AUC agregada nas 20 falhas, com o limiar calibrado em validação.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O argumento geométrico: PC1 × PC2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2014742" y="4958972"/>
            <a:ext cx="3566100" cy="1234500"/>
          </a:xfrm>
          <a:prstGeom prst="roundRect">
            <a:avLst>
              <a:gd fmla="val 5185" name="adj"/>
            </a:avLst>
          </a:prstGeom>
          <a:solidFill>
            <a:srgbClr val="FBF3E9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2215910" y="5086988"/>
            <a:ext cx="3200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60D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  <a:t>IDV(1): sai da elipse</a:t>
            </a:r>
            <a:br>
              <a:rPr b="1" lang="en-US" sz="135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Pontos pós-falha deixam a região normal → alto SPE → detectado.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5727206" y="4958972"/>
            <a:ext cx="3639300" cy="1234500"/>
          </a:xfrm>
          <a:prstGeom prst="roundRect">
            <a:avLst>
              <a:gd fmla="val 5185" name="adj"/>
            </a:avLst>
          </a:prstGeom>
          <a:solidFill>
            <a:srgbClr val="EDF5EF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5928374" y="5086988"/>
            <a:ext cx="3246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IDV(3): fica dentro</a:t>
            </a:r>
            <a:br>
              <a:rPr b="1" lang="en-US" sz="135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Pós-falha permanece na elipse → SPE insensível → não detectado.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3728"/>
            <a:ext cx="11076462" cy="3063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Síntese e a limitação estrutural do SPE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566928" y="1645920"/>
            <a:ext cx="5468112" cy="1965960"/>
          </a:xfrm>
          <a:prstGeom prst="roundRect">
            <a:avLst>
              <a:gd fmla="val 3256" name="adj"/>
            </a:avLst>
          </a:prstGeom>
          <a:solidFill>
            <a:srgbClr val="FBF3E9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822960" y="18470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60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D9760D"/>
                </a:solidFill>
                <a:latin typeface="Cambria"/>
                <a:ea typeface="Cambria"/>
                <a:cs typeface="Cambria"/>
                <a:sym typeface="Cambria"/>
              </a:rPr>
              <a:t>IDV(1)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841248" y="228600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FDR &gt; 95%, detecção rápida após a amostra 20.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falha desloca o processo para fora de 𝒮ₖ.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6163056" y="1645920"/>
            <a:ext cx="5468112" cy="1965960"/>
          </a:xfrm>
          <a:prstGeom prst="roundRect">
            <a:avLst>
              <a:gd fmla="val 3256" name="adj"/>
            </a:avLst>
          </a:prstGeom>
          <a:solidFill>
            <a:srgbClr val="EDF5EF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6419088" y="18470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E8B57"/>
                </a:solidFill>
                <a:latin typeface="Cambria"/>
                <a:ea typeface="Cambria"/>
                <a:cs typeface="Cambria"/>
                <a:sym typeface="Cambria"/>
              </a:rPr>
              <a:t>IDV(3)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6437376" y="228600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FDR &lt; 5%, limitação conhecida na literatura.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falha se manifesta dentro de 𝒮ₖ.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566928" y="3886200"/>
            <a:ext cx="11064240" cy="1965960"/>
          </a:xfrm>
          <a:prstGeom prst="roundRect">
            <a:avLst>
              <a:gd fmla="val 3256" name="adj"/>
            </a:avLst>
          </a:prstGeom>
          <a:solidFill>
            <a:srgbClr val="13294B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868680" y="40690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Por que o SPE falha em IDV(3)?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868680" y="4572000"/>
            <a:ext cx="10469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erro de reconstrução mede apenas o que está FORA do subespaço principal. Uma falha que produz deslocamentos DENTRO de 𝒮ₖ é, por construção, invisível ao SPE — não há resíduo para detectar.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Extensão: Modelos não lineares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72800" y="1416403"/>
            <a:ext cx="67665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PCA não é só redução de dimensionalidade,  é monitoramento estatístico fundamentado em álgebra linear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método é semi-supervisionado: treina apenas com dados normais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limitação do SPE para falhas "internas" ao subespaço motiva extensões não lineares (autoencoders)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Baixo custo computacional, alta interpretabilidade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66925" y="3619231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Trabalhos futuros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615" y="927550"/>
            <a:ext cx="3453138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/>
          <p:nvPr/>
        </p:nvSpPr>
        <p:spPr>
          <a:xfrm>
            <a:off x="566925" y="4125575"/>
            <a:ext cx="5519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Spina et al. (2024)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72800" y="4564613"/>
            <a:ext cx="53934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7975" lvl="0" marL="45720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Evidência de que uma projeção não linear captura parte do que o PCA deixa passar.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 Falha 3, o PCA tem o menor AUC (0,9779) entre os métodos comparados, enquanto os autoencoders alcançam até 0,9809.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6200" y="4125587"/>
            <a:ext cx="5997677" cy="1737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/>
          <p:nvPr/>
        </p:nvSpPr>
        <p:spPr>
          <a:xfrm>
            <a:off x="822959" y="310310"/>
            <a:ext cx="790664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MENSAGEM CENTRAL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804672" y="622567"/>
            <a:ext cx="10674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PCA + decomposição espectral entregam detecção de anomalias interpretável — e mostram, geometricamente, os limites do SPE.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822959" y="1945531"/>
            <a:ext cx="790664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PRINCIPAIS REFERÊNCIAS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822950" y="2311300"/>
            <a:ext cx="10424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Downs &amp; Vogel (1993). A plant-wide industrial process control problem. Computers &amp; Chemical Engineering, 17(3), 245–255.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Rieth, Amsel, Tran &amp; Cook (2017). Additional TEP Simulation Data for Anomaly Detection. Harvard Dataverse, doi:10.7910/DVN/6C3JR1.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Qin (2003). Statistical process monitoring: basics and beyond. Journal of Chemometrics, 17(8–9), 480–502.</a:t>
            </a:r>
            <a:endParaRPr sz="1250">
              <a:solidFill>
                <a:srgbClr val="D7DE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Spina et al. (2021). </a:t>
            </a: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Comparison of Autoencoder Architectures for Fault Detection in Industrial Processes, Digital Chemical Engineering. doi:10.1016/j.dche.2024.100162</a:t>
            </a:r>
            <a:endParaRPr sz="1250">
              <a:solidFill>
                <a:srgbClr val="D7DE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804672" y="5475480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Reynaldo Pereira Martins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13490412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814400" y="6077784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Victor Zoratti Ferreira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08006115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815568" y="4231562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Soares Zanutti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10413611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5568" y="4845188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Fábio Luiz Souza Alves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15084023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0103" y="4316266"/>
            <a:ext cx="3043706" cy="126869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/>
          <p:nvPr/>
        </p:nvSpPr>
        <p:spPr>
          <a:xfrm>
            <a:off x="822960" y="3774142"/>
            <a:ext cx="7906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GRUPO I • MAI 5002 • FUNDAMENTOS DE MATEMÁTICA APLICADA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